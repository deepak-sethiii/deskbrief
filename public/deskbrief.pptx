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292608"/>
            <a:ext cx="113385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2600" b="1">
                <a:solidFill>
                  <a:srgbClr val="1F3A5B"/>
                </a:solidFill>
                <a:latin typeface="Calibri"/>
              </a:rPr>
              <a:t>DeskBrief - Indian Large Cap Watchlist</a:t>
            </a:r>
          </a:p>
          <a:p>
            <a:r>
              <a:rPr sz="1100" b="0">
                <a:solidFill>
                  <a:srgbClr val="6B7280"/>
                </a:solidFill>
                <a:latin typeface="Calibri"/>
              </a:rPr>
              <a:t>8 names  |  generated 23 Sep 2026 17:20  |  source: Yahoo Finance via yfinance, Indian financial RSS</a:t>
            </a:r>
          </a:p>
        </p:txBody>
      </p:sp>
      <p:sp>
        <p:nvSpPr>
          <p:cNvPr id="3" name="Rectangle 2"/>
          <p:cNvSpPr/>
          <p:nvPr/>
        </p:nvSpPr>
        <p:spPr>
          <a:xfrm>
            <a:off x="411480" y="1133856"/>
            <a:ext cx="11375136" cy="25400"/>
          </a:xfrm>
          <a:prstGeom prst="rect">
            <a:avLst/>
          </a:prstGeom>
          <a:solidFill>
            <a:srgbClr val="1F3A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11480" y="1463040"/>
          <a:ext cx="7040880" cy="26334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914400"/>
                <a:gridCol w="777240"/>
                <a:gridCol w="777240"/>
                <a:gridCol w="777240"/>
                <a:gridCol w="868680"/>
                <a:gridCol w="777240"/>
                <a:gridCol w="731520"/>
              </a:tblGrid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Ticker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Last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5D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21D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vs 52W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Vol30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P/E</a:t>
                      </a:r>
                    </a:p>
                  </a:txBody>
                  <a:tcPr>
                    <a:solidFill>
                      <a:srgbClr val="1F3A5B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BHARTIARTL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1,833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+0.88%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-0.10%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-5.84%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-14.2%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38.7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HDFCBANK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737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+1.34%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-25.8%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ICICIBANK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1,340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+0.03%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-1.38%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-5.81%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-8.2%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17.3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INFY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1,020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-0.86%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-3.73%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-10.80%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-38.3%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ITC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270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+2.27%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-0.46%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-32.8%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17.1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LT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3,930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+1.64%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+3.21%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-10.2%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32.6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RELIANCE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1,248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+0.61%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0B7A3B"/>
                          </a:solidFill>
                          <a:latin typeface="Calibri"/>
                        </a:rPr>
                        <a:t>+0.65%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-5.24%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-21.3%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16%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22.6</a:t>
                      </a:r>
                    </a:p>
                  </a:txBody>
                  <a:tcPr>
                    <a:solidFill>
                      <a:srgbClr val="F3F5F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1F2A37"/>
                          </a:solidFill>
                          <a:latin typeface="Calibri"/>
                        </a:rPr>
                        <a:t>TCS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2,090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-0.73%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-4.53%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B3261E"/>
                          </a:solidFill>
                          <a:latin typeface="Calibri"/>
                        </a:rPr>
                        <a:t>-9.00%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-34.8%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25%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F2A37"/>
                          </a:solidFill>
                          <a:latin typeface="Calibri"/>
                        </a:rPr>
                        <a:t>15.3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5" name="Picture 4" descr="normalised_prices_d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4370832"/>
            <a:ext cx="7040880" cy="206335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726679" y="1463040"/>
            <a:ext cx="4069080" cy="4846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300" b="1">
                <a:solidFill>
                  <a:srgbClr val="1F3A5B"/>
                </a:solidFill>
                <a:latin typeface="Calibri"/>
              </a:rPr>
              <a:t>Commentary</a:t>
            </a:r>
          </a:p>
          <a:p>
            <a:pPr>
              <a:spcBef>
                <a:spcPts val="400"/>
              </a:spcBef>
            </a:pPr>
            <a:r>
              <a:rPr sz="1000" b="1">
                <a:solidFill>
                  <a:srgbClr val="1F2A37"/>
                </a:solidFill>
                <a:latin typeface="Calibri"/>
              </a:rPr>
              <a:t>Breadth was risk-on: 5 of 8 names advanced on the day.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Best performer on the day: LT.NS at +1.64%.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Weakest on the day: INFY.NS at -0.86%.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Median one-day move across the watchlist: +0.32%.</a:t>
            </a:r>
          </a:p>
          <a:p>
            <a:pPr>
              <a:spcBef>
                <a:spcPts val="500"/>
              </a:spcBef>
            </a:pPr>
            <a:r>
              <a:rPr sz="1000" b="0">
                <a:solidFill>
                  <a:srgbClr val="1F2A37"/>
                </a:solidFill>
                <a:latin typeface="Calibri"/>
              </a:rPr>
              <a:t>•  INFY.NS sits furthest below its 52-week high, at -38.3%.</a:t>
            </a:r>
          </a:p>
          <a:p>
            <a:pPr>
              <a:spcBef>
                <a:spcPts val="1000"/>
              </a:spcBef>
            </a:pPr>
            <a:r>
              <a:rPr sz="1100" b="1">
                <a:solidFill>
                  <a:srgbClr val="1F3A5B"/>
                </a:solidFill>
                <a:latin typeface="Calibri"/>
              </a:rPr>
              <a:t>Watch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Highest 30-day realised volatility: INFY.NS at 27.1% annualised.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60 headlines collected, 1 tagged to a watchlist name by substring match (unverified).</a:t>
            </a:r>
          </a:p>
          <a:p>
            <a:pPr>
              <a:spcBef>
                <a:spcPts val="400"/>
              </a:spcBef>
            </a:pPr>
            <a:r>
              <a:rPr sz="1000" b="0">
                <a:solidFill>
                  <a:srgbClr val="6B7280"/>
                </a:solidFill>
                <a:latin typeface="Calibri"/>
              </a:rPr>
              <a:t>•  Commentary model was unavailable, so no qualitative read is included.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6446520"/>
            <a:ext cx="11338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800" b="0">
                <a:solidFill>
                  <a:srgbClr val="6B7280"/>
                </a:solidFill>
                <a:latin typeface="Calibri"/>
              </a:rPr>
              <a:t>Commentary source: deterministic-fallback (model returned unusable output twice).  Headline ticker tags are substring matches, not verified entity links.  Not investment advice.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