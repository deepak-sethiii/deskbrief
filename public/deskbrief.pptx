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92608"/>
            <a:ext cx="113385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1F3A5B"/>
                </a:solidFill>
                <a:latin typeface="Calibri"/>
              </a:rPr>
              <a:t>DeskBrief - Indian Large Cap Watchlist</a:t>
            </a:r>
          </a:p>
          <a:p>
            <a:r>
              <a:rPr sz="1100" b="0">
                <a:solidFill>
                  <a:srgbClr val="6B7280"/>
                </a:solidFill>
                <a:latin typeface="Calibri"/>
              </a:rPr>
              <a:t>8 names  |  generated 24 Aug 2026 13:29  |  source: Yahoo Finance via yfinance, Indian financial RSS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75136" cy="25400"/>
          </a:xfrm>
          <a:prstGeom prst="rect">
            <a:avLst/>
          </a:prstGeom>
          <a:solidFill>
            <a:srgbClr val="1F3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463040"/>
          <a:ext cx="7040880" cy="2633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7320"/>
                <a:gridCol w="914400"/>
                <a:gridCol w="777240"/>
                <a:gridCol w="777240"/>
                <a:gridCol w="777240"/>
                <a:gridCol w="868680"/>
                <a:gridCol w="777240"/>
                <a:gridCol w="73152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Ticker</a:t>
                      </a:r>
                    </a:p>
                  </a:txBody>
                  <a:tcPr>
                    <a:solidFill>
                      <a:srgbClr val="1F3A5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Last</a:t>
                      </a:r>
                    </a:p>
                  </a:txBody>
                  <a:tcPr>
                    <a:solidFill>
                      <a:srgbClr val="1F3A5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1D</a:t>
                      </a:r>
                    </a:p>
                  </a:txBody>
                  <a:tcPr>
                    <a:solidFill>
                      <a:srgbClr val="1F3A5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5D</a:t>
                      </a:r>
                    </a:p>
                  </a:txBody>
                  <a:tcPr>
                    <a:solidFill>
                      <a:srgbClr val="1F3A5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21D</a:t>
                      </a:r>
                    </a:p>
                  </a:txBody>
                  <a:tcPr>
                    <a:solidFill>
                      <a:srgbClr val="1F3A5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vs 52W</a:t>
                      </a:r>
                    </a:p>
                  </a:txBody>
                  <a:tcPr>
                    <a:solidFill>
                      <a:srgbClr val="1F3A5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Vol30</a:t>
                      </a:r>
                    </a:p>
                  </a:txBody>
                  <a:tcPr>
                    <a:solidFill>
                      <a:srgbClr val="1F3A5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P/E</a:t>
                      </a:r>
                    </a:p>
                  </a:txBody>
                  <a:tcPr>
                    <a:solidFill>
                      <a:srgbClr val="1F3A5B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F2A37"/>
                          </a:solidFill>
                          <a:latin typeface="Calibri"/>
                        </a:rPr>
                        <a:t>BHARTIARTL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1,935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-0.57%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-1.74%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+1.94%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-9.4%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18%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40.4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F2A37"/>
                          </a:solidFill>
                          <a:latin typeface="Calibri"/>
                        </a:rPr>
                        <a:t>HDFCBANK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729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+0.28%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+0.00%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-1.86%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-26.6%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20%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15.9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F2A37"/>
                          </a:solidFill>
                          <a:latin typeface="Calibri"/>
                        </a:rPr>
                        <a:t>ICICIBANK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1,415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-0.35%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-0.02%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-0.42%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-3.1%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16%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18.3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F2A37"/>
                          </a:solidFill>
                          <a:latin typeface="Calibri"/>
                        </a:rPr>
                        <a:t>INFY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1,130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+0.80%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-0.87%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+8.56%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-31.7%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28%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14.6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F2A37"/>
                          </a:solidFill>
                          <a:latin typeface="Calibri"/>
                        </a:rPr>
                        <a:t>ITC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270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+0.11%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-1.23%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-4.85%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-32.9%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16%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17.0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F2A37"/>
                          </a:solidFill>
                          <a:latin typeface="Calibri"/>
                        </a:rPr>
                        <a:t>LT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4,090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-0.07%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+0.08%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+8.04%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-6.5%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33.9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F2A37"/>
                          </a:solidFill>
                          <a:latin typeface="Calibri"/>
                        </a:rPr>
                        <a:t>RELIANCE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1,310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-0.47%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-0.47%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+2.49%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-17.4%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18%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23.7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F2A37"/>
                          </a:solidFill>
                          <a:latin typeface="Calibri"/>
                        </a:rPr>
                        <a:t>TCS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2,284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-0.78%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-1.26%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+1.32%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-28.7%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31%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16.6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5" name="Picture 4" descr="normalised_prices_de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4370832"/>
            <a:ext cx="7040880" cy="206335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26679" y="1463040"/>
            <a:ext cx="4069080" cy="4846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F3A5B"/>
                </a:solidFill>
                <a:latin typeface="Calibri"/>
              </a:rPr>
              <a:t>Commentary</a:t>
            </a:r>
          </a:p>
          <a:p>
            <a:pPr>
              <a:spcBef>
                <a:spcPts val="400"/>
              </a:spcBef>
            </a:pPr>
            <a:r>
              <a:rPr sz="1000" b="1">
                <a:solidFill>
                  <a:srgbClr val="1F2A37"/>
                </a:solidFill>
                <a:latin typeface="Calibri"/>
              </a:rPr>
              <a:t>Breadth was risk-off: 3 of 8 names advanced on the day.</a:t>
            </a:r>
          </a:p>
          <a:p>
            <a:pPr>
              <a:spcBef>
                <a:spcPts val="500"/>
              </a:spcBef>
            </a:pPr>
            <a:r>
              <a:rPr sz="1000" b="0">
                <a:solidFill>
                  <a:srgbClr val="1F2A37"/>
                </a:solidFill>
                <a:latin typeface="Calibri"/>
              </a:rPr>
              <a:t>•  Best performer on the day: INFY.NS at +0.80%.</a:t>
            </a:r>
          </a:p>
          <a:p>
            <a:pPr>
              <a:spcBef>
                <a:spcPts val="500"/>
              </a:spcBef>
            </a:pPr>
            <a:r>
              <a:rPr sz="1000" b="0">
                <a:solidFill>
                  <a:srgbClr val="1F2A37"/>
                </a:solidFill>
                <a:latin typeface="Calibri"/>
              </a:rPr>
              <a:t>•  Weakest on the day: TCS.NS at -0.78%.</a:t>
            </a:r>
          </a:p>
          <a:p>
            <a:pPr>
              <a:spcBef>
                <a:spcPts val="500"/>
              </a:spcBef>
            </a:pPr>
            <a:r>
              <a:rPr sz="1000" b="0">
                <a:solidFill>
                  <a:srgbClr val="1F2A37"/>
                </a:solidFill>
                <a:latin typeface="Calibri"/>
              </a:rPr>
              <a:t>•  Median one-day move across the watchlist: -0.21%.</a:t>
            </a:r>
          </a:p>
          <a:p>
            <a:pPr>
              <a:spcBef>
                <a:spcPts val="500"/>
              </a:spcBef>
            </a:pPr>
            <a:r>
              <a:rPr sz="1000" b="0">
                <a:solidFill>
                  <a:srgbClr val="1F2A37"/>
                </a:solidFill>
                <a:latin typeface="Calibri"/>
              </a:rPr>
              <a:t>•  ITC.NS sits furthest below its 52-week high, at -32.9%.</a:t>
            </a:r>
          </a:p>
          <a:p>
            <a:pPr>
              <a:spcBef>
                <a:spcPts val="500"/>
              </a:spcBef>
            </a:pPr>
            <a:r>
              <a:rPr sz="1000" b="0">
                <a:solidFill>
                  <a:srgbClr val="1F2A37"/>
                </a:solidFill>
                <a:latin typeface="Calibri"/>
              </a:rPr>
              <a:t>•  1 name(s) within 5% of the 52-week high: ICICIBANK.NS.</a:t>
            </a:r>
          </a:p>
          <a:p>
            <a:pPr>
              <a:spcBef>
                <a:spcPts val="1000"/>
              </a:spcBef>
            </a:pPr>
            <a:r>
              <a:rPr sz="1100" b="1">
                <a:solidFill>
                  <a:srgbClr val="1F3A5B"/>
                </a:solidFill>
                <a:latin typeface="Calibri"/>
              </a:rPr>
              <a:t>Watch</a:t>
            </a:r>
          </a:p>
          <a:p>
            <a:pPr>
              <a:spcBef>
                <a:spcPts val="400"/>
              </a:spcBef>
            </a:pPr>
            <a:r>
              <a:rPr sz="1000" b="0">
                <a:solidFill>
                  <a:srgbClr val="6B7280"/>
                </a:solidFill>
                <a:latin typeface="Calibri"/>
              </a:rPr>
              <a:t>•  Highest 30-day realised volatility: TCS.NS at 31.4% annualised.</a:t>
            </a:r>
          </a:p>
          <a:p>
            <a:pPr>
              <a:spcBef>
                <a:spcPts val="400"/>
              </a:spcBef>
            </a:pPr>
            <a:r>
              <a:rPr sz="1000" b="0">
                <a:solidFill>
                  <a:srgbClr val="6B7280"/>
                </a:solidFill>
                <a:latin typeface="Calibri"/>
              </a:rPr>
              <a:t>•  60 headlines collected, 4 tagged to a watchlist name by substring match (unverified).</a:t>
            </a:r>
          </a:p>
          <a:p>
            <a:pPr>
              <a:spcBef>
                <a:spcPts val="400"/>
              </a:spcBef>
            </a:pPr>
            <a:r>
              <a:rPr sz="1000" b="0">
                <a:solidFill>
                  <a:srgbClr val="6B7280"/>
                </a:solidFill>
                <a:latin typeface="Calibri"/>
              </a:rPr>
              <a:t>•  Commentary model was unavailable, so no qualitative read is included.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446520"/>
            <a:ext cx="11338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6B7280"/>
                </a:solidFill>
                <a:latin typeface="Calibri"/>
              </a:rPr>
              <a:t>Commentary source: deterministic-fallback (model returned unusable output twice).  Headline ticker tags are substring matches, not verified entity links.  Not investment advice.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